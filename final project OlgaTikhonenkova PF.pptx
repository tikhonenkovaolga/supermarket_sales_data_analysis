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5" cy="5143683"/>
  <p:notesSz cx="5143683" cy="914400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3" Target="tableStyles.xml" Type="http://schemas.openxmlformats.org/officeDocument/2006/relationships/tableStyles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slides/slide9.xml" Type="http://schemas.openxmlformats.org/officeDocument/2006/relationships/slide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0" name="GroupShape 1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" name="Shape 11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2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5" name="GroupShape 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" name="Shape 1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7" name="Shape 17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8" name="Shape 18"/>
          <p:cNvSpPr txBox="true"/>
          <p:nvPr isPhoto="false">
            <p:ph idx="3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6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https://www.kaggle.com/datasets/hanif13/supermarket-sales" TargetMode="External" Type="http://schemas.openxmlformats.org/officeDocument/2006/relationships/hyperlink"/>
  <Relationship Id="rId2" Target="https://colab.research.google.com/drive/1qaKIeEZEYzHI0z8c1DuNWgxSU2ZwMvfI?usp=sharing" TargetMode="External" Type="http://schemas.openxmlformats.org/officeDocument/2006/relationships/hyperlink"/>
  <Relationship Id="rId3" Target="../media/2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3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4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5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6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media/7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8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9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chemeClr val="bg1"/>
        </a:solidFill>
      </p:bgPr>
    </p:bg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21" name="Picture 21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27596" y="124027"/>
            <a:ext cx="3122813" cy="519942"/>
          </a:xfrm>
          <a:prstGeom prst="rect">
            <a:avLst/>
          </a:prstGeom>
        </p:spPr>
      </p:pic>
      <p:sp>
        <p:nvSpPr>
          <p:cNvPr hidden="false" id="22" name="Shape 22"/>
          <p:cNvSpPr txBox="true"/>
          <p:nvPr isPhoto="false"/>
        </p:nvSpPr>
        <p:spPr>
          <a:xfrm flipH="false" flipV="false" rot="0">
            <a:off x="11614" y="-59439"/>
            <a:ext cx="9148532" cy="5193109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endParaRPr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sz="1800">
                <a:solidFill>
                  <a:srgbClr val="227FA7"/>
                </a:solidFill>
                <a:latin typeface="+mn-lt"/>
                <a:ea typeface="+mn-ea"/>
                <a:cs typeface="+mn-cs"/>
              </a:rPr>
              <a:t>          </a:t>
            </a:r>
            <a:endParaRPr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true" sz="1800">
                <a:solidFill>
                  <a:srgbClr val="227FA7"/>
                </a:solidFill>
                <a:latin typeface="+mn-lt"/>
                <a:ea typeface="+mn-ea"/>
                <a:cs typeface="+mn-cs"/>
              </a:rPr>
              <a:t>Olga Tikhonenkova</a:t>
            </a:r>
            <a:endParaRPr b="true"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sz="36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 Supermarket sales </a:t>
            </a:r>
            <a:r>
              <a:rPr sz="36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data analysis</a:t>
            </a:r>
            <a:endParaRPr sz="36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true" sz="1800">
                <a:solidFill>
                  <a:srgbClr val="227FA7"/>
                </a:solidFill>
                <a:latin typeface="+mn-lt"/>
                <a:ea typeface="+mn-ea"/>
                <a:cs typeface="+mn-cs"/>
              </a:rPr>
              <a:t>   </a:t>
            </a:r>
            <a:endParaRPr b="true"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true" sz="1800">
                <a:solidFill>
                  <a:srgbClr val="227FA7"/>
                </a:solidFill>
                <a:latin typeface="+mn-lt"/>
                <a:ea typeface="+mn-ea"/>
                <a:cs typeface="+mn-cs"/>
              </a:rPr>
              <a:t>   Analysis of revenue, assortment and seasonality of supermarket</a:t>
            </a:r>
            <a:endParaRPr b="true"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true" sz="1800">
                <a:solidFill>
                  <a:srgbClr val="227FA7"/>
                </a:solidFill>
                <a:latin typeface="+mn-lt"/>
                <a:ea typeface="+mn-ea"/>
                <a:cs typeface="+mn-cs"/>
              </a:rPr>
              <a:t>   chain sales for making managerial decisions  </a:t>
            </a:r>
            <a:endParaRPr b="true" sz="1800">
              <a:solidFill>
                <a:srgbClr val="227FA7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sz="36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 </a:t>
            </a:r>
            <a:endParaRPr sz="36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 sz="18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 sz="18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 sz="18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" name="GroupShape 2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" name="Shape 24"/>
          <p:cNvSpPr txBox="true"/>
          <p:nvPr isPhoto="false">
            <p:ph idx="1" type="body"/>
          </p:nvPr>
        </p:nvSpPr>
        <p:spPr>
          <a:xfrm flipH="false" flipV="false" rot="0">
            <a:off x="-16271" y="39736"/>
            <a:ext cx="9087252" cy="5049557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sz="2000">
                <a:solidFill>
                  <a:srgbClr val="FD9326"/>
                </a:solidFill>
              </a:rPr>
              <a:t>  </a:t>
            </a:r>
            <a:r>
              <a:rPr b="true" sz="2000">
                <a:solidFill>
                  <a:srgbClr val="FD9326"/>
                </a:solidFill>
              </a:rPr>
              <a:t>Introduction:</a:t>
            </a:r>
            <a:endParaRPr b="true" sz="2000">
              <a:solidFill>
                <a:srgbClr val="FD9326"/>
              </a:solidFill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true" sz="1800">
                <a:solidFill>
                  <a:srgbClr val="FD9326"/>
                </a:solidFill>
              </a:rPr>
              <a:t> </a:t>
            </a:r>
            <a:r>
              <a:rPr b="true" sz="1400">
                <a:solidFill>
                  <a:srgbClr val="FD9326"/>
                </a:solidFill>
              </a:rPr>
              <a:t> </a:t>
            </a: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aim of the project is to analyze sales in different supermarket branches in order to</a:t>
            </a:r>
            <a:endParaRPr b="true" sz="1400">
              <a:solidFill>
                <a:srgbClr val="FD9326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 identify: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the leathers and the outsiders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the most profitable products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seasonality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points of the growth and the decrease in revenue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true" sz="2000">
                <a:solidFill>
                  <a:srgbClr val="FD9326"/>
                </a:solidFill>
                <a:latin typeface="Arial"/>
                <a:ea typeface="Arial"/>
                <a:cs typeface="Arial"/>
              </a:rPr>
              <a:t>Target audience: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Owner (see income structure)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Director of the network (compare branches)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Marketing specialist (understand, where to launch promotions)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Financier (plan a budget)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Store manager (improve the store's assortment)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 data: </a:t>
            </a:r>
            <a:r>
              <a:rPr b="false" sz="1400" u="sng">
                <a:solidFill>
                  <a:srgbClr val="0000FF"/>
                </a:solidFill>
                <a:latin typeface="Arial"/>
                <a:ea typeface="Arial"/>
                <a:cs typeface="Arial"/>
                <a:hlinkClick action="" r:id="rId1" tooltip=""/>
              </a:rPr>
              <a:t>https://www.kaggle.com/datasets/hanif13/supermarket-sales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lvl="8" marL="360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false"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 code:</a:t>
            </a:r>
            <a:r>
              <a:rPr u="sng">
                <a:solidFill>
                  <a:srgbClr val="0000FF"/>
                </a:solidFill>
                <a:hlinkClick action="" r:id="rId2" tooltip=""/>
              </a:rPr>
              <a:t>https://colab.research.google.com/drive/1qaKIeEZEYzHI0z8c1DuNWgxSU2ZwMvfI?usp=sharing</a:t>
            </a:r>
            <a:endParaRPr b="false"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indent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  </a:t>
            </a:r>
            <a:endParaRPr b="false"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hidden="false" id="26" name="Picture 26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152711" y="2339954"/>
            <a:ext cx="2835847" cy="2575525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7" name="GroupShape 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8" name="Shape 28"/>
          <p:cNvSpPr txBox="true"/>
          <p:nvPr isPhoto="false">
            <p:ph idx="1" type="body"/>
          </p:nvPr>
        </p:nvSpPr>
        <p:spPr>
          <a:xfrm flipH="false" flipV="false" rot="0">
            <a:off x="89160" y="109189"/>
            <a:ext cx="8961975" cy="4920573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</p:sp>
      <p:pic>
        <p:nvPicPr>
          <p:cNvPr hidden="false" id="30" name="Picture 3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07578" y="1533797"/>
            <a:ext cx="8548693" cy="3336165"/>
          </a:xfrm>
          <a:prstGeom prst="rect">
            <a:avLst/>
          </a:prstGeom>
        </p:spPr>
      </p:pic>
      <p:sp>
        <p:nvSpPr>
          <p:cNvPr hidden="false" id="31" name="Shape 31"/>
          <p:cNvSpPr txBox="true"/>
          <p:nvPr isPhoto="false"/>
        </p:nvSpPr>
        <p:spPr>
          <a:xfrm flipH="false" flipV="false" rot="0">
            <a:off x="311376" y="297747"/>
            <a:ext cx="8570861" cy="1065609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Top revenue by product lines 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As a result of the analysis of revenue across product lines, it can be seen that revenue across all lines is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not much different. The line "Home &amp; lifestyle" is on the first place (its share is 20.9%). 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 line "Fashion &amp; Accs" is on the last place (10.8%).   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2" name="GroupShape 3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3" name="Shape 33"/>
          <p:cNvSpPr txBox="true"/>
          <p:nvPr isPhoto="false">
            <p:ph idx="1" type="body"/>
          </p:nvPr>
        </p:nvSpPr>
        <p:spPr>
          <a:xfrm flipH="false" flipV="false" rot="0">
            <a:off x="122634" y="119110"/>
            <a:ext cx="8908658" cy="4900729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</p:sp>
      <p:pic>
        <p:nvPicPr>
          <p:cNvPr hidden="false" id="35" name="Picture 3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77812" y="1454422"/>
            <a:ext cx="8518927" cy="3405618"/>
          </a:xfrm>
          <a:prstGeom prst="rect">
            <a:avLst/>
          </a:prstGeom>
        </p:spPr>
      </p:pic>
      <p:sp>
        <p:nvSpPr>
          <p:cNvPr hidden="false" id="36" name="Shape 36"/>
          <p:cNvSpPr txBox="true"/>
          <p:nvPr isPhoto="false"/>
        </p:nvSpPr>
        <p:spPr>
          <a:xfrm flipH="false" flipV="false" rot="0">
            <a:off x="331220" y="317591"/>
            <a:ext cx="8560939" cy="1035843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Revenue analysis by branches: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Revenue in all 3 branches is approximately the same, and all 3 branches are operating efficiently.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7" name="GroupShape 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" name="Shape 38"/>
          <p:cNvSpPr txBox="true"/>
          <p:nvPr isPhoto="false">
            <p:ph idx="0" type="title"/>
          </p:nvPr>
        </p:nvSpPr>
        <p:spPr>
          <a:xfrm flipH="false" flipV="false" rot="0">
            <a:off x="51594" y="56605"/>
            <a:ext cx="9040816" cy="5044673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  <p:txBody>
          <a:bodyPr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>
            <a:pPr algn="ctr" indent="0" marL="76200" marR="76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Symbol"/>
              <a:buNone/>
            </a:pPr>
            <a:endParaRPr b="false" sz="1600">
              <a:solidFill>
                <a:srgbClr val="000000"/>
              </a:solidFill>
              <a:highlight>
                <a:srgbClr val="FFFFFF"/>
              </a:highlight>
              <a:latin typeface="monospace"/>
              <a:ea typeface="monospace"/>
              <a:cs typeface="monospace"/>
            </a:endParaRPr>
          </a:p>
          <a:p>
            <a:pPr algn="ctr" indent="0" marL="76200" marR="76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Symbol"/>
              <a:buNone/>
            </a:pPr>
            <a:endParaRPr b="false">
              <a:solidFill>
                <a:srgbClr val="000000"/>
              </a:solidFill>
              <a:highlight>
                <a:srgbClr val="FFFFFF"/>
              </a:highlight>
              <a:latin typeface="monospace"/>
              <a:ea typeface="monospace"/>
              <a:cs typeface="monospace"/>
            </a:endParaRPr>
          </a:p>
          <a:p>
            <a:pPr algn="ctr" indent="0" marL="76200" marR="76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Symbol"/>
              <a:buNone/>
            </a:pPr>
            <a:endParaRPr b="false">
              <a:solidFill>
                <a:srgbClr val="000000"/>
              </a:solidFill>
              <a:highlight>
                <a:srgbClr val="FFFFFF"/>
              </a:highlight>
              <a:latin typeface="monospace"/>
              <a:ea typeface="monospace"/>
              <a:cs typeface="monospace"/>
            </a:endParaRPr>
          </a:p>
          <a:p>
            <a:pPr algn="ctr" indent="0" marL="76200" marR="76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Symbol"/>
              <a:buNone/>
            </a:pPr>
            <a:r>
              <a:t> </a:t>
            </a:r>
          </a:p>
        </p:txBody>
      </p:sp>
      <p:pic>
        <p:nvPicPr>
          <p:cNvPr hidden="false" id="40" name="Picture 4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47265" y="1480054"/>
            <a:ext cx="8374123" cy="3300612"/>
          </a:xfrm>
          <a:prstGeom prst="rect">
            <a:avLst/>
          </a:prstGeom>
        </p:spPr>
      </p:pic>
      <p:sp>
        <p:nvSpPr>
          <p:cNvPr hidden="false" id="41" name="Shape 41"/>
          <p:cNvSpPr txBox="true"/>
          <p:nvPr isPhoto="false"/>
        </p:nvSpPr>
        <p:spPr>
          <a:xfrm flipH="false" flipV="false" rot="0">
            <a:off x="349533" y="297747"/>
            <a:ext cx="8532704" cy="916781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Revenue analysis by month 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 analysis shows a sharp drop in revenue from may to august. The drop in revenue is about the same in all branches.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2" name="GroupShape 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3" name="Shape 43"/>
          <p:cNvSpPr txBox="true"/>
          <p:nvPr isPhoto="false">
            <p:ph idx="1" type="body"/>
          </p:nvPr>
        </p:nvSpPr>
        <p:spPr>
          <a:xfrm flipH="false" flipV="false" rot="0">
            <a:off x="84647" y="99267"/>
            <a:ext cx="8976410" cy="4980104"/>
          </a:xfrm>
          <a:prstGeom prst="rect">
            <a:avLst/>
          </a:prstGeom>
          <a:ln w="25717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pic>
        <p:nvPicPr>
          <p:cNvPr hidden="false" id="45" name="Picture 4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67890" y="1265907"/>
            <a:ext cx="8608224" cy="3604056"/>
          </a:xfrm>
          <a:prstGeom prst="rect">
            <a:avLst/>
          </a:prstGeom>
        </p:spPr>
      </p:pic>
      <p:sp>
        <p:nvSpPr>
          <p:cNvPr hidden="false" id="46" name="Shape 46"/>
          <p:cNvSpPr txBox="true"/>
          <p:nvPr isPhoto="false"/>
        </p:nvSpPr>
        <p:spPr>
          <a:xfrm flipH="false" flipV="false" rot="0">
            <a:off x="331220" y="337435"/>
            <a:ext cx="8501408" cy="847328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Prices analysis by month: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 monthly price analysis shows that one of the reason of the drop in revenue is directly related to lower prices. 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7" name="GroupShape 4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8" name="Shape 48"/>
          <p:cNvSpPr txBox="true"/>
          <p:nvPr isPhoto="false">
            <p:ph idx="1" type="body"/>
          </p:nvPr>
        </p:nvSpPr>
        <p:spPr>
          <a:xfrm flipH="false" flipV="false" rot="0">
            <a:off x="102791" y="122976"/>
            <a:ext cx="8938423" cy="4916707"/>
          </a:xfrm>
          <a:prstGeom prst="rect">
            <a:avLst/>
          </a:prstGeom>
          <a:ln w="25717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pic>
        <p:nvPicPr>
          <p:cNvPr hidden="false" id="50" name="Picture 5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97656" y="1305594"/>
            <a:ext cx="8469318" cy="3554445"/>
          </a:xfrm>
          <a:prstGeom prst="rect">
            <a:avLst/>
          </a:prstGeom>
        </p:spPr>
      </p:pic>
      <p:sp>
        <p:nvSpPr>
          <p:cNvPr hidden="false" id="51" name="Shape 51"/>
          <p:cNvSpPr txBox="true"/>
          <p:nvPr isPhoto="false"/>
        </p:nvSpPr>
        <p:spPr>
          <a:xfrm flipH="false" flipV="false" rot="0">
            <a:off x="351064" y="327513"/>
            <a:ext cx="8471643" cy="867172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Food &amp; Beverages average prices: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 analysis of the prices of product lines showed a sharp drop in prices starting in June.T</a:t>
            </a: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he reason for </a:t>
            </a: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 price drop may be a change in the product range or a change in the company's trade policy .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2" name="GroupShape 5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3" name="Shape 53"/>
          <p:cNvSpPr txBox="true"/>
          <p:nvPr isPhoto="false">
            <p:ph idx="1" type="body"/>
          </p:nvPr>
        </p:nvSpPr>
        <p:spPr>
          <a:xfrm flipH="false" flipV="false" rot="0">
            <a:off x="132556" y="99267"/>
            <a:ext cx="8898735" cy="4930495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</p:sp>
      <p:pic>
        <p:nvPicPr>
          <p:cNvPr hidden="false" id="55" name="Picture 5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57187" y="1313916"/>
            <a:ext cx="8509005" cy="3508037"/>
          </a:xfrm>
          <a:prstGeom prst="rect">
            <a:avLst/>
          </a:prstGeom>
        </p:spPr>
      </p:pic>
      <p:sp>
        <p:nvSpPr>
          <p:cNvPr hidden="false" id="56" name="Shape 56"/>
          <p:cNvSpPr txBox="true"/>
          <p:nvPr isPhoto="false"/>
        </p:nvSpPr>
        <p:spPr>
          <a:xfrm flipH="false" flipV="false" rot="0">
            <a:off x="380829" y="258060"/>
            <a:ext cx="8461721" cy="946546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Fashion &amp; Accs average prices: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 same situation applies to a product line "Fashion &amp; Accs".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7" name="GroupShape 5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8" name="Shape 58"/>
          <p:cNvSpPr txBox="true"/>
          <p:nvPr isPhoto="false">
            <p:ph idx="1" type="body"/>
          </p:nvPr>
        </p:nvSpPr>
        <p:spPr>
          <a:xfrm flipH="false" flipV="false" rot="0">
            <a:off x="82947" y="129033"/>
            <a:ext cx="8938423" cy="4900729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</p:sp>
      <p:pic>
        <p:nvPicPr>
          <p:cNvPr hidden="false" id="60" name="Picture 6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67890" y="1333759"/>
            <a:ext cx="8518927" cy="3517960"/>
          </a:xfrm>
          <a:prstGeom prst="rect">
            <a:avLst/>
          </a:prstGeom>
        </p:spPr>
      </p:pic>
      <p:sp>
        <p:nvSpPr>
          <p:cNvPr hidden="false" id="61" name="Shape 61"/>
          <p:cNvSpPr txBox="true"/>
          <p:nvPr isPhoto="false"/>
        </p:nvSpPr>
        <p:spPr>
          <a:xfrm flipH="false" flipV="false" rot="0">
            <a:off x="241923" y="297747"/>
            <a:ext cx="8570861" cy="926701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buNone/>
            </a:pPr>
            <a:r>
              <a:rPr b="true" sz="1400">
                <a:solidFill>
                  <a:srgbClr val="FD9326"/>
                </a:solidFill>
                <a:latin typeface="+mn-lt"/>
                <a:ea typeface="+mn-ea"/>
                <a:cs typeface="+mn-cs"/>
              </a:rPr>
              <a:t>Monthly analysis of the number of products sold: </a:t>
            </a:r>
            <a:endParaRPr b="true" sz="1400">
              <a:solidFill>
                <a:srgbClr val="FD9326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 b="false" sz="14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 picture shows a seasonal drop in demand for all product lines. This is another reason for the drop in revenue.</a:t>
            </a:r>
            <a:endParaRPr b="false" sz="140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2" name="GroupShape 6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3" name="Shape 63"/>
          <p:cNvSpPr txBox="true"/>
          <p:nvPr isPhoto="false">
            <p:ph idx="1" type="body"/>
          </p:nvPr>
        </p:nvSpPr>
        <p:spPr>
          <a:xfrm flipH="false" flipV="false" rot="0">
            <a:off x="122634" y="109189"/>
            <a:ext cx="8908658" cy="4920573"/>
          </a:xfrm>
          <a:prstGeom prst="rect">
            <a:avLst/>
          </a:prstGeom>
          <a:ln w="257175">
            <a:solidFill>
              <a:srgbClr val="86CAE7"/>
            </a:solidFill>
            <a:prstDash val="solid"/>
          </a:ln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endParaRPr b="true" sz="2400">
              <a:solidFill>
                <a:srgbClr val="FD9326"/>
              </a:solidFill>
            </a:endParaRPr>
          </a:p>
          <a:p>
            <a:pPr algn="ctr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true" sz="2400">
                <a:solidFill>
                  <a:srgbClr val="FD9326"/>
                </a:solidFill>
              </a:rPr>
              <a:t>Conclusions:</a:t>
            </a:r>
            <a:endParaRPr b="true" sz="2400">
              <a:solidFill>
                <a:srgbClr val="FD9326"/>
              </a:solidFill>
            </a:endParaRPr>
          </a:p>
          <a:p>
            <a:pPr algn="l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600">
                <a:solidFill>
                  <a:srgbClr val="000000"/>
                </a:solidFill>
              </a:rPr>
              <a:t>–</a:t>
            </a:r>
            <a:r>
              <a:rPr b="false" sz="1600">
                <a:solidFill>
                  <a:srgbClr val="000000"/>
                </a:solidFill>
              </a:rPr>
              <a:t> All 3 branches are operating stably and making good revenue;</a:t>
            </a:r>
            <a:endParaRPr b="false" sz="1600">
              <a:solidFill>
                <a:srgbClr val="000000"/>
              </a:solidFill>
            </a:endParaRPr>
          </a:p>
          <a:p>
            <a:pPr algn="l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600">
                <a:solidFill>
                  <a:srgbClr val="000000"/>
                </a:solidFill>
              </a:rPr>
              <a:t>– 4 product categories account for 73% of the revenue (Home &amp; Lifestyle, Health &amp; Beauty, Sports &amp; Travel, Electronics);</a:t>
            </a:r>
            <a:endParaRPr b="false" sz="1600">
              <a:solidFill>
                <a:srgbClr val="000000"/>
              </a:solidFill>
            </a:endParaRPr>
          </a:p>
          <a:p>
            <a:pPr algn="l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600">
                <a:solidFill>
                  <a:srgbClr val="000000"/>
                </a:solidFill>
              </a:rPr>
              <a:t>– Revenue in 2 product categories is lower than in the rest due to the sharp decline in prices in the second half of 2024;</a:t>
            </a:r>
            <a:endParaRPr b="false" sz="1600">
              <a:solidFill>
                <a:srgbClr val="000000"/>
              </a:solidFill>
            </a:endParaRPr>
          </a:p>
          <a:p>
            <a:pPr algn="l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r>
              <a:rPr b="false" sz="1600">
                <a:solidFill>
                  <a:srgbClr val="000000"/>
                </a:solidFill>
              </a:rPr>
              <a:t>– There is also a decrease in revenue during the summer period.</a:t>
            </a:r>
            <a:endParaRPr b="false" sz="1600">
              <a:solidFill>
                <a:srgbClr val="000000"/>
              </a:solidFill>
            </a:endParaRPr>
          </a:p>
          <a:p>
            <a:pPr algn="l" indent="0" lvl="1" marL="450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</a:pPr>
            <a:endParaRPr b="false" sz="1600">
              <a:solidFill>
                <a:srgbClr val="000000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2025-12-07T15:52:00Z</dcterms:modified>
</cp:coreProperties>
</file>